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solidFill>
            <a:srgbClr val="154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KrishiSaarthi – AgriSmart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AI-powered Agricultural Management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108960"/>
            <a:ext cx="21031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E6C9"/>
                </a:solidFill>
                <a:latin typeface="Calibri"/>
              </a:defRPr>
            </a:pPr>
            <a:r>
              <a:t>B.Tech Final Year Capstone Project  •  Academic Year 2025–26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Team Members: [Name 1 – Roll No] • [Name 2 – Roll No] • [Name 3 – Roll No] • [Name 4 – Roll No]</a:t>
            </a:r>
            <a:br/>
            <a:r>
              <a:t>Department of Computer Science &amp; Engineering</a:t>
            </a:r>
            <a:br/>
            <a:r>
              <a:t>[College Name], [City]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176"/>
                </a:solidFill>
                <a:latin typeface="Calibri"/>
              </a:defRPr>
            </a:pPr>
            <a:r>
              <a:t>Guide: Prof. [Mentor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Motivation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Why does Indian agriculture need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🌾 Agriculture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≈42% of India's workforce depends on agriculture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Second-largest agricultural land in the world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Millions of smallholder farmers with &lt;2 hectares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Backbone of rural economy and food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C00"/>
                </a:solidFill>
                <a:latin typeface="Calibri"/>
              </a:defRPr>
            </a:pPr>
            <a:r>
              <a:t>⚠️ Key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Manual crop monitoring — delayed disease detection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Pest &amp; disease losses: ≈₹50,000 crore annually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Scattered financial records — no profit/loss clarity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Unpredictable weather and climate variability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🔍 Gaps We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No integrated platform combining satellite + ML + financial tools for Indian farmers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Carbon credit opportunities missed — rice paddies contribute ~1.5% of global GHG emissions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Government schemes underutilized due to language barriers and lack of awareness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Farmers rely on visual inspection, leading to 20-30% misdiagnosis rates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Calibri"/>
              </a:defRPr>
            </a:pPr>
            <a:r>
              <a:t>🎯 Primary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12121"/>
                </a:solidFill>
                <a:latin typeface="Calibri"/>
              </a:defRPr>
            </a:pPr>
            <a:r>
              <a:t>"To build a production-ready, AI-powered agricultural management platform that uses satellite imagery, deep learning, and real-time analytics to help farmers make data-driven decisions about crop health, risk, finances, and sustainability (including carbon credits)."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Sub-objectives: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● Detect plant diseases from leaf images using CNN (MobileNetV2) with 38-class classification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● Predict agricultural risk using LSTM on weather + NDVI time-series data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● Compute composite health scores fusing CNN, satellite, weather, and practice data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● Enable carbon credit estimation via AWD detection on rice paddies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● Provide multilingual AI chatbot for scheme discovery and crop advisory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● Deliver a complete financial ledger with per-field profit/loss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High-level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System Block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560320" cy="1371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47A1"/>
                </a:solidFill>
                <a:latin typeface="Calibri"/>
              </a:defRPr>
            </a:pPr>
            <a:r>
              <a:t>👩‍🌾 Farmer 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React 18 + TypeScript</a:t>
            </a:r>
            <a:br/>
            <a:r>
              <a:t>Tailwind CSS + Vite</a:t>
            </a:r>
            <a:br/>
            <a:r>
              <a:t>Multilingual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463040"/>
            <a:ext cx="2743200" cy="21031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⚙️ 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116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Django 5.1 + DRF</a:t>
            </a:r>
            <a:br/>
            <a:r>
              <a:t>Token Auth</a:t>
            </a:r>
            <a:br/>
            <a:r>
              <a:t>PostgreSQL/SQLite</a:t>
            </a:r>
            <a:br/>
            <a:r>
              <a:t>REST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463040"/>
            <a:ext cx="2560320" cy="210312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5C00"/>
                </a:solidFill>
                <a:latin typeface="Calibri"/>
              </a:defRPr>
            </a:pPr>
            <a:r>
              <a:t>🧠 ML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PyTorch Models</a:t>
            </a:r>
            <a:br/>
            <a:r>
              <a:t>MobileNetV2 CNN</a:t>
            </a:r>
            <a:br/>
            <a:r>
              <a:t>LSTM Risk</a:t>
            </a:r>
            <a:br/>
            <a:r>
              <a:t>Health Score</a:t>
            </a:r>
            <a:br/>
            <a:r>
              <a:t>AWD &amp; Carbon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463040"/>
            <a:ext cx="1828800" cy="21031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A1B9A"/>
                </a:solidFill>
                <a:latin typeface="Calibri"/>
              </a:defRPr>
            </a:pPr>
            <a:r>
              <a:t>🌐 External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0116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Earth Engine</a:t>
            </a:r>
            <a:br/>
            <a:r>
              <a:t>OpenWeather</a:t>
            </a:r>
            <a:br/>
            <a:r>
              <a:t>Gemini AI</a:t>
            </a:r>
            <a:br/>
            <a:r>
              <a:t>Mandi Prices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📊 Field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NDVI/NDWI analytics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Disease detection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Health scoring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AWD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1148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💰 Finance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5720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Input cost logging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Income tracking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Per-field P&amp;L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Seasonal reports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1148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06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D4037"/>
                </a:solidFill>
                <a:latin typeface="Calibri"/>
              </a:defRPr>
            </a:pPr>
            <a:r>
              <a:t>📅 Planning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57200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Crop rotation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Market prices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Weather alerts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Govt. schemes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4114800"/>
            <a:ext cx="23774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🤖 AI Chatbot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572000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Gemini 2.5 Flash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Multilingual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Scheme discovery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Crop advisory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–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8 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🛰️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Satellite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NDVI, NDWI, EVI, SAVI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Disease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MobileNetV2 CNN + Gemini 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Yield &amp; Risk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LSTM + Weather time-series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Health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Multi-factor fusion (5 inputs)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Financial Ledger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Per-field profit/loss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931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Market &amp; Weather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Mandi prices + forecast 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Carbon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AWD detection + IPCC Tier-2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931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B5E2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AI Chatbot &amp; Schemes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Gemini 2.5 Flash, multilingual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(Detailed)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Layered Modular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105156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React 18  •  TypeScript  •  Tailwind CSS  •  Vite  •  Leaflet Maps  •  Recharts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1247120" cy="10515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Backend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Django 5.1  •  DRF REST API  •  Token Auth  •  PostgreSQL / SQLite  •  Celery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105156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C00"/>
                </a:solidFill>
                <a:latin typeface="Calibri"/>
              </a:defRPr>
            </a:pPr>
            <a:r>
              <a:t>ML / AI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PyTorch: MobileNetV2 (CNN)  •  LSTM (Risk)  •  Health Score  •  AWD Detection  •  Carbon Credits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66360"/>
            <a:ext cx="11247120" cy="10515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A1B9A"/>
                </a:solidFill>
                <a:latin typeface="Calibri"/>
              </a:defRPr>
            </a:pPr>
            <a:r>
              <a:t>Geospatial &amp; External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Google Earth Engine  •  Shapely  •  PyProj  •  OpenWeather API  •  Gemini 2.5 Flash  •  data.gov.in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Modular Django Apps: field • finance • planning • chatbot  |  REST endpoints per module  |  Singleton Model Registry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CNN: Plant Disease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MobileNetV2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📦 Dataset: PlantVillage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54,305 labeled leaf images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38 disease classes across 14 crop species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Split: 80% train / 10% val / 10% test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Data augmentation: RandomResizedCrop, HorizontalFlip, Rotation, ColorJitter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🧠 Model: MobileNetV2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Pretrained on ImageNet (~9.1 MB, lightweight)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Depthwise separable convolutions → efficiency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Inverted residual blocks with linear bottleneck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Custom head: Dropout(0.2) → Linear(1280, 38) → Softmax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C00"/>
                </a:solidFill>
                <a:latin typeface="Calibri"/>
              </a:defRPr>
            </a:pPr>
            <a:r>
              <a:t>⚙️ Training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Phase 1: Freeze backbone, train head (5 epochs)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Phase 2: Unfreeze &amp; fine-tune all layers (15 epochs)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Loss: CrossEntropyLoss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Optimizer: Adam (lr=1e-4) + StepLR scheduler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Early stopping on validation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2336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📊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Test Accuracy: ~96.5%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Inference time: &lt;200ms per image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Gemini Vision pre-check: validates plant image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Confidence threshold: predictions below 60% flagged</a:t>
            </a:r>
          </a:p>
          <a:p>
            <a:pPr>
              <a:spcAft>
                <a:spcPts val="6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Model size: ~9.1 MB (mobile-friendly)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LSTM: 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Weather &amp; Vegetation Time-Series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📥 Input Features (10–14 day window)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Vegetation index (NDVI from Earth Engine)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Rainfall (mm/day from ERA5 / Open-Meteo)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Temperature (°C daily mean)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Soil moisture (volumetric 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📊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ERA5 / Open-Meteo reanalysis data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25 Indian agricultural districts (2023–2024)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Labels: historical crop loss reports → risk scores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Time-series sequences: sliding windows of 10–14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🧠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2-layer LSTM, input_size=4, hidden_size=64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Dropout: 0.1 between LSTM layers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Fully connected output: Linear(64, 1) → Sigmoid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Loss: BCELoss | Optimizer: Adam (lr=1e-3)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Output: risk probability ∈ [0, 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2336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🎯 Risk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Low Risk: probability &lt; 0.3 → normal operations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Medium Risk: 0.3 ≤ p &lt; 0.6 → advisory alerts sent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High Risk: p ≥ 0.6 → urgent warnings + action items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Integrated with weather forecast for 7-day lookahead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Updates daily with new satellite &amp; weather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Health Score: Multi-factor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Composite Crop Health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📐 Formula: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12121"/>
                </a:solidFill>
                <a:latin typeface="Calibri"/>
              </a:defRPr>
            </a:pPr>
            <a:r>
              <a:t>HealthScore = 0.30·CNN + 0.25·NDVI + 0.20·(1 − Risk) + 0.15·Weather + 0.10·Practice(AWD)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2103120" cy="18288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12121"/>
                </a:solidFill>
                <a:latin typeface="Calibri"/>
              </a:defRPr>
            </a:pPr>
            <a:r>
              <a:t>CNN Score</a:t>
            </a:r>
            <a:br/>
            <a:r>
              <a:t>(0.30)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Disease detection</a:t>
            </a:r>
            <a:br/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291840"/>
            <a:ext cx="2103120" cy="1828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12121"/>
                </a:solidFill>
                <a:latin typeface="Calibri"/>
              </a:defRPr>
            </a:pPr>
            <a:r>
              <a:t>NDVI Score</a:t>
            </a:r>
            <a:br/>
            <a:r>
              <a:t>(0.25)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Vegetation health</a:t>
            </a:r>
            <a:br/>
            <a:r>
              <a:t>from satellite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291840"/>
            <a:ext cx="2103120" cy="18288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12121"/>
                </a:solidFill>
                <a:latin typeface="Calibri"/>
              </a:defRPr>
            </a:pPr>
            <a:r>
              <a:t>1 − Risk</a:t>
            </a:r>
            <a:br/>
            <a:r>
              <a:t>(0.20)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Inverse of LSTM</a:t>
            </a:r>
            <a:br/>
            <a:r>
              <a:t>risk prediction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3291840"/>
            <a:ext cx="2103120" cy="18288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799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12121"/>
                </a:solidFill>
                <a:latin typeface="Calibri"/>
              </a:defRPr>
            </a:pPr>
            <a:r>
              <a:t>Weather</a:t>
            </a:r>
            <a:br/>
            <a:r>
              <a:t>(0.15)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799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Current weather</a:t>
            </a:r>
            <a:br/>
            <a:r>
              <a:t>favorability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3291840"/>
            <a:ext cx="2103120" cy="1828800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12121"/>
                </a:solidFill>
                <a:latin typeface="Calibri"/>
              </a:defRPr>
            </a:pPr>
            <a:r>
              <a:t>AWD Practice</a:t>
            </a:r>
            <a:br/>
            <a:r>
              <a:t>(0.10)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114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Sustainable water</a:t>
            </a:r>
            <a:br/>
            <a:r>
              <a:t>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303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▼ Weighted Sum 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5760720"/>
            <a:ext cx="5760720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8064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Final Health Score: 0 – 100  |  Categories: Poor · Fair · Good · Excellent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Satellite Analytics: NDVI, NDWI &amp; Field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Google Earth Engine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🛰️ Vegetation Indices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NDVI = (NIR − Red) / (NIR + Red) → vegetation health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NDWI = (Green − NIR) / (Green + NIR) → water content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EVI = Enhanced Vegetation Index (atmospheric correction)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SAVI = Soil-Adjusted Vegetation Index (bare soil correction)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🗺️ Field Mapping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1. Farmer draws polygon on Leaflet map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2. Coordinates sent to backend → Earth Engine API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3. Sentinel-2 imagery processed for NDVI/NDWI time-series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4. Charts rendered showing health trends over weeks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📈 Analytics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Temporal resolution: Sentinel-2 revisit every 5 days (cloud-permitting)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Historical analysis: up to 12 months of NDVI trends for crop cycle tracking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Anomaly detection: sudden NDVI drops flagged as potential disease/stress events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Integration: NDVI feeds into Health Score (25% weight) and LSTM risk model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⚠️ Limitation: 5–16 day satellite temporal lag depending on cloud cover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AWD: Alternate Wetting &amp; Drying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Water-Saving Rice Cultivation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What is AWD?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Alternate Wetting and Drying is a rice cultivation technique that alternates between flooding and drying paddy fields, reducing water use by 15–30% and cutting methane emissions by up to 48%.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🌊 NDWI Thresholds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Wet phase: NDWI ≥ 0.3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Dry phase: NDWI ≤ 0.2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Transition: 0.2 &lt; NDWI &lt; 0.3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0175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⚙️ State Machine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747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Track: Wet → Dry → Wet cycles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Minimum 2 complete cycles = AWD confirmed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Cycle duration validation (7–21 days)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01752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💧 Water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Estimated 15–30% water reduction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Based on cycle count &amp; field area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Feeds into carbon credit calculation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🔄 Detection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Sentinel-2 NDWI time-series → Threshold classification → State machine tracking → AWD confirmation → Carbon credit eligibility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Carbon Credits &amp; IPCC Tier-2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Monetizing Sustainable Farming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What are Carbon Credits?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1 credit = 1 tonne CO₂-equivalent reduced, tradable in carbon markets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📊 IPCC Tier-2 Constants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Continuous flooding: 1.30 kg CH₄/ha/day  |  AWD: 0.55 kg CH₄/ha/day  |  GWP₁₀₀ for CH₄: 27.9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463040" cy="10058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0175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Calibri"/>
              </a:defRPr>
            </a:pPr>
            <a:r>
              <a:t>AWD Detection</a:t>
            </a:r>
            <a:br/>
            <a:r>
              <a:t>(NDWI cycles)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2926080"/>
            <a:ext cx="1463040" cy="10058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30175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Calibri"/>
              </a:defRPr>
            </a:pPr>
            <a:r>
              <a:t>CH₄ Reduction</a:t>
            </a:r>
            <a:br/>
            <a:r>
              <a:t>(per ha/day)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926080"/>
            <a:ext cx="1463040" cy="100584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0175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Seasonal CO₂e</a:t>
            </a:r>
            <a:br/>
            <a:r>
              <a:t>(× GWP × days)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2926080"/>
            <a:ext cx="1463040" cy="100584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61320" y="30175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Calibri"/>
              </a:defRPr>
            </a:pPr>
            <a:r>
              <a:t>Carbon Credits</a:t>
            </a:r>
            <a:br/>
            <a:r>
              <a:t>(tCO₂e)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💰 Monetary Estimation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Reduction = (1.30 − 0.55) × area × season_days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CO₂e = CH₄ reduction × 27.9 (GWP)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Credits = CO₂e / 1000 (kg → tonnes)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Revenue = credits × $15/tCO₂e ≈ ₹1,500–₹2,000/ha/season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9768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389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🏛️ Market Relevance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Indian Carbon Market (ICM/CCTS) framework launched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Voluntary carbon markets (Verra, Gold Standard)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Rice methane is a growing focus for MRV platforms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Potential additional income stream for smallholder farmers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Finance &amp; Profit/Loss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Data-Driven Farm Financial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📥 Input Cost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Seeds &amp; planting materials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Fertilizers &amp; pesticides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Labour costs (hiring, equipment rental)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Irrigation &amp; water management expenses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📤 Income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Yield quantity per harvest per field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Selling price (linked to mandi data)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Revenue = Yield × Market Price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Seasonal &amp; annual income summaries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📊 Per-Season Profit/Loss = Total Income − Total Costs (computed per field)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Enables farmers to compare profitability across fields, seasons, and crop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11247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✅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Better financial planning  •  Identify most profitable practices  •  Reduce wasteful spending  •  Support loan/subsidy applications with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Prices, Weather &amp; Government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Real-time Information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📊 Market Prices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Integration with mandi price data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Source: data.gov.in open APIs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Commodity price trends &amp; charts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Optimal selling time suggestions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Nearest mandi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🌤️ Weather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OpenWeather API integration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7-day forecast for farm location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Extreme weather alerts (heat, rain)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Linked to LSTM risk prediction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Historical weather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5661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🏛️ Government Schemes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PM-KISAN, PMFBY, KCC &amp; more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AI-powered scheme discovery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Eligibility matching for farmers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Multilingual explanations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Application guidance via chatbot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1247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🔗 Integration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Weather data → Risk prediction → Alerts  |  Market data → Selling recommendations → P&amp;L optimization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Government schemes → Chatbot explanations → Application assistance → Financial support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Chatbot (Gemini 2.5 Flash)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Agriculture-focused Conversational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🤖 Chatbot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Powered by Gemini 2.5 Flash (low latency, high quality)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System prompt tuned for agriculture domain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Context window: last 20 messages for conversation continuity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Multilingual: English, Hindi, Punjabi, Malayalam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🔍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Crop care &amp; disease management advice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Government scheme discovery &amp; eligibility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Weather interpretation &amp; risk explanation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App usage guidance &amp; feature walkthrough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🖼️ Image Validation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Step 1: User uploads leaf photo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Step 2: Gemini Vision validates it's a plant image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Step 3: If valid → CNN processes for disease detection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Step 4: If invalid → user notified, garbage input avoided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Prevents false positives from non-plant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2336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A1B9A"/>
                </a:solidFill>
                <a:latin typeface="Calibri"/>
              </a:defRPr>
            </a:pPr>
            <a:r>
              <a:t>🌐 Multilingual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Auto-detect user's preferred language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Response generation in selected language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Technical terms explained in simple local language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Seamless language switching within conversation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Covers 4 major Indian languages + English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Multilingual Landing Page &amp;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Farmer-friendly Interface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🌐 Language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English, Hindi (हिन्दी), Punjabi (ਪੰਜਾਬੀ), Malayalam (മലയാളം)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Centralized translations in translations.ts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15–20 translation keys per language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Language switcher in header → instant text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📱 Landing Page Sections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Hero: Tagline + description + CTA buttons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Features: Comprehensive feature grid with icons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How to Use: Step-by-step visual guide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Benefits: Yield ↑, Cost ↓, Water savings, Carbon income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🎨 UX Design 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Mobile-responsive design for rural smartphone users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Large touch targets and readable fonts for outdoor use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Visual-first approach: icons, charts, and color-coded health indicators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Minimal text input required — map-based field drawing, camera-based disease detection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Offline-aware indicators (graceful degradation when connectivity is poor)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&amp; 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Enterprise-grade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🔒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Token-based authentication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Rate limiting on all endpoints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User-scoped DB queries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CSRF protection enabled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PII encryption (Fernet)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CORS configuration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🧠 ML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Lazy model loading (on-demand)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torch.no_grad() for inference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model.eval() mode enforced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Model Registry: Singleton pattern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SHA-256 hash verification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Model versioning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63040"/>
            <a:ext cx="33832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🚀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Docker containerization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Gunicorn WSGI server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Nginx reverse proxy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GitHub Actions CI/CD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Health check endpoints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Basic monitoring &amp; logging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✅ Production 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Input validation on all API endpoints  •  SQL injection prevention via Django ORM  •  File upload size limits &amp; type checking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Environment-based configuration (dev/staging/prod)  •  Secrets management via environment variables  •  Automated testing in CI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Advantages, 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✅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Multi-modal AI: images + satellite + time-series + LLM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Real datasets: PlantVillage, ERA5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Real APIs: Earth Engine, OpenWeather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IPCC-based carbon credit methodology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Farmer-friendly multilingual UX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Modular, extensible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⚠️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Internet-dependent (no offline mode)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PlantVillage dataset bias (lab images)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Limited to 14 crop species currently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Satellite temporal lag: 5–16 days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Carbon credit estimation (not certified MRV)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No IoT sensor integration yet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33832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Calibri"/>
              </a:defRPr>
            </a:pPr>
            <a:r>
              <a:t>🚀 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202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Drone imagery integration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ONNX/TFLite mobile models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More crops &amp; regional diseases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Real-time push alerts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IoT sensor connectivity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Voice interface for farmers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112471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A1B9A"/>
                </a:solidFill>
                <a:latin typeface="Calibri"/>
              </a:defRPr>
            </a:pPr>
            <a:r>
              <a:t>🔮 Long-term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Crop insurance automation with verified yield data  •  Carbon credit marketplace with blockchain verification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Community knowledge sharing between farmers  •  Integration with FPOs (Farmer Producer Organizations)</a:t>
            </a:r>
          </a:p>
          <a:p>
            <a:pPr>
              <a:spcAft>
                <a:spcPts val="5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▸ Precision agriculture with field-level microclimate data  •  Partnership with state agriculture departments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User Journey &amp; Impact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Calibri"/>
              </a:defRPr>
            </a:pPr>
            <a:r>
              <a:t>A Day in the Life of a KrishiSaarthi Farmer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3258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1.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Create account</a:t>
            </a:r>
            <a:br/>
            <a:r>
              <a:t>&amp;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031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1463040"/>
            <a:ext cx="132588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47A1"/>
                </a:solidFill>
                <a:latin typeface="Calibri"/>
              </a:defRPr>
            </a:pPr>
            <a:r>
              <a:t>2. Draw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Map polygon</a:t>
            </a:r>
            <a:br/>
            <a:r>
              <a:t>on satellite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1031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63040"/>
            <a:ext cx="13258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3. Upload Leaf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Photograph &amp;</a:t>
            </a:r>
            <a:br/>
            <a:r>
              <a:t>detect disease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031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63040"/>
            <a:ext cx="132588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47A1"/>
                </a:solidFill>
                <a:latin typeface="Calibri"/>
              </a:defRPr>
            </a:pPr>
            <a:r>
              <a:t>4. Health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View composite</a:t>
            </a:r>
            <a:br/>
            <a:r>
              <a:t>crop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1031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463040"/>
            <a:ext cx="13258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5. Risk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Weather-based</a:t>
            </a:r>
            <a:br/>
            <a:r>
              <a:t>risk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1031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1463040"/>
            <a:ext cx="132588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47A1"/>
                </a:solidFill>
                <a:latin typeface="Calibri"/>
              </a:defRPr>
            </a:pPr>
            <a:r>
              <a:t>6. Log Costs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Track expenses</a:t>
            </a:r>
            <a:br/>
            <a:r>
              <a:t>&amp; income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1031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1463040"/>
            <a:ext cx="132588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7. Market/Weather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Price trends &amp;</a:t>
            </a:r>
            <a:br/>
            <a:r>
              <a:t>forecast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21031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0" y="1463040"/>
            <a:ext cx="132588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61320" y="15544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47A1"/>
                </a:solidFill>
                <a:latin typeface="Calibri"/>
              </a:defRPr>
            </a:pPr>
            <a:r>
              <a:t>8. AWD + Carbon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210312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  <a:latin typeface="Calibri"/>
              </a:defRPr>
            </a:pPr>
            <a:r>
              <a:t>Sustainable practice</a:t>
            </a:r>
            <a:br/>
            <a:r>
              <a:t>→ extra income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114800"/>
            <a:ext cx="2651760" cy="2286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📉 Reduced Crop Loss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46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Early disease detection</a:t>
            </a:r>
            <a:br/>
            <a:r>
              <a:t>saves 20-30% yield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4114800"/>
            <a:ext cx="2651760" cy="22860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📊 Better Decisions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846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Data-driven farming</a:t>
            </a:r>
            <a:br/>
            <a:r>
              <a:t>replaces guesswork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114800"/>
            <a:ext cx="2651760" cy="2286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💧 Water Savings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846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AWD practice saves</a:t>
            </a:r>
            <a:br/>
            <a:r>
              <a:t>15-30% water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4114800"/>
            <a:ext cx="2651760" cy="22860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Calibri"/>
              </a:defRPr>
            </a:pPr>
            <a:r>
              <a:t>💰 New Income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8463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Carbon credits add</a:t>
            </a:r>
            <a:br/>
            <a:r>
              <a:t>₹1,500-2,000/ha/season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Learnings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554480"/>
            <a:ext cx="210312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solidFill>
            <a:srgbClr val="154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8E6C9"/>
                </a:solidFill>
                <a:latin typeface="Calibri"/>
              </a:defRPr>
            </a:pPr>
            <a:r>
              <a:t>✓ Problem: Indian farmers lack integrated AI tools for crop health, risk, and financial management</a:t>
            </a:r>
          </a:p>
          <a:p>
            <a:pPr>
              <a:spcAft>
                <a:spcPts val="500"/>
              </a:spcAft>
              <a:defRPr sz="1500">
                <a:solidFill>
                  <a:srgbClr val="C8E6C9"/>
                </a:solidFill>
                <a:latin typeface="Calibri"/>
              </a:defRPr>
            </a:pPr>
            <a:r>
              <a:t>✓ Solution: KrishiSaarthi — a multi-modal AI platform combining satellite imagery, deep learning, and real-time analytics</a:t>
            </a:r>
          </a:p>
          <a:p>
            <a:pPr>
              <a:spcAft>
                <a:spcPts val="500"/>
              </a:spcAft>
              <a:defRPr sz="1500">
                <a:solidFill>
                  <a:srgbClr val="C8E6C9"/>
                </a:solidFill>
                <a:latin typeface="Calibri"/>
              </a:defRPr>
            </a:pPr>
            <a:r>
              <a:t>✓ Impact: Reduced crop losses, water savings through AWD, new carbon credit income, and data-driven decisions</a:t>
            </a:r>
          </a:p>
          <a:p>
            <a:pPr>
              <a:spcAft>
                <a:spcPts val="500"/>
              </a:spcAft>
              <a:defRPr sz="1500">
                <a:solidFill>
                  <a:srgbClr val="C8E6C9"/>
                </a:solidFill>
                <a:latin typeface="Calibri"/>
              </a:defRPr>
            </a:pPr>
            <a:r>
              <a:t>✓ Technical depth: MobileNetV2 CNN (96.5% accuracy), LSTM risk prediction, IPCC Tier-2 carbon calculations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176"/>
                </a:solidFill>
                <a:latin typeface="Calibri"/>
              </a:defRPr>
            </a:pPr>
            <a:r>
              <a:t>Key Learnings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A5D6A7"/>
                </a:solidFill>
                <a:latin typeface="Calibri"/>
              </a:defRPr>
            </a:pPr>
            <a:r>
              <a:t>★ ML Engineering: Transfer learning, model registry, production-grade inference pipelines</a:t>
            </a:r>
          </a:p>
          <a:p>
            <a:pPr>
              <a:spcAft>
                <a:spcPts val="500"/>
              </a:spcAft>
              <a:defRPr sz="1400">
                <a:solidFill>
                  <a:srgbClr val="A5D6A7"/>
                </a:solidFill>
                <a:latin typeface="Calibri"/>
              </a:defRPr>
            </a:pPr>
            <a:r>
              <a:t>★ Geospatial: Satellite imagery processing, vegetation indices, Earth Engine API integration</a:t>
            </a:r>
          </a:p>
          <a:p>
            <a:pPr>
              <a:spcAft>
                <a:spcPts val="500"/>
              </a:spcAft>
              <a:defRPr sz="1400">
                <a:solidFill>
                  <a:srgbClr val="A5D6A7"/>
                </a:solidFill>
                <a:latin typeface="Calibri"/>
              </a:defRPr>
            </a:pPr>
            <a:r>
              <a:t>★ Full-stack: Django REST + React TypeScript architecture, security hardening, Docker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You!  • 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Calibri"/>
              </a:defRPr>
            </a:pPr>
            <a:r>
              <a:t>KrishiSaarthi – Empowering Farmers with AI 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